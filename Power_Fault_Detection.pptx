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7" r:id="rId6"/>
    <p:sldId id="288" r:id="rId7"/>
    <p:sldId id="289" r:id="rId8"/>
    <p:sldId id="285" r:id="rId9"/>
    <p:sldId id="262"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evudayasree03/Power-System-Fault-Detection-and-Classification"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36311883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err="1"/>
                        <a:t>Ernapati</a:t>
                      </a:r>
                      <a:r>
                        <a:rPr lang="en-IN" dirty="0"/>
                        <a:t> Venkata </a:t>
                      </a:r>
                      <a:r>
                        <a:rPr lang="en-IN" dirty="0" err="1"/>
                        <a:t>Udayasree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evudayasree@gmail.com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8019284473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Electrical Engineering</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Power System Fault Detection and Classification </a:t>
            </a:r>
            <a:endParaRPr lang="en-IN" sz="2400" b="1" dirty="0">
              <a:highlight>
                <a:srgbClr val="FFFF00"/>
              </a:highlight>
            </a:endParaRPr>
          </a:p>
        </p:txBody>
      </p:sp>
      <p:pic>
        <p:nvPicPr>
          <p:cNvPr id="3" name="Picture 2">
            <a:extLst>
              <a:ext uri="{FF2B5EF4-FFF2-40B4-BE49-F238E27FC236}">
                <a16:creationId xmlns:a16="http://schemas.microsoft.com/office/drawing/2014/main" id="{4C92A6FE-2D1F-7C5C-4398-36C311029C1A}"/>
              </a:ext>
            </a:extLst>
          </p:cNvPr>
          <p:cNvPicPr>
            <a:picLocks noChangeAspect="1"/>
          </p:cNvPicPr>
          <p:nvPr/>
        </p:nvPicPr>
        <p:blipFill>
          <a:blip r:embed="rId3"/>
          <a:stretch>
            <a:fillRect/>
          </a:stretch>
        </p:blipFill>
        <p:spPr>
          <a:xfrm>
            <a:off x="4226015" y="3648535"/>
            <a:ext cx="760764" cy="10025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234440"/>
            <a:ext cx="11320555" cy="4616648"/>
          </a:xfrm>
          <a:prstGeom prst="rect">
            <a:avLst/>
          </a:prstGeom>
          <a:noFill/>
        </p:spPr>
        <p:txBody>
          <a:bodyPr wrap="square" rtlCol="0">
            <a:spAutoFit/>
          </a:bodyPr>
          <a:lstStyle/>
          <a:p>
            <a:pPr fontAlgn="base"/>
            <a:r>
              <a:rPr lang="en-US" b="1" dirty="0"/>
              <a:t>Problem Statement : Power System Fault Detection and Classification</a:t>
            </a:r>
          </a:p>
          <a:p>
            <a:pPr fontAlgn="base"/>
            <a:endParaRPr lang="en-US" b="1" dirty="0"/>
          </a:p>
          <a:p>
            <a:r>
              <a:rPr lang="en-US" b="1" dirty="0"/>
              <a:t>The Challenge</a:t>
            </a:r>
          </a:p>
          <a:p>
            <a:r>
              <a:rPr lang="en-US" dirty="0"/>
              <a:t>Power distribution systems are critical infrastructure that must operate continuously and reliably. However, faults such as </a:t>
            </a:r>
            <a:r>
              <a:rPr lang="en-US" b="1" dirty="0"/>
              <a:t>line breakages, transformer failures, overheating, and other equipment malfunctions</a:t>
            </a:r>
            <a:r>
              <a:rPr lang="en-US" dirty="0"/>
              <a:t> can lead to power outages, equipment damage, increased maintenance costs, and reduced grid stability. Traditional fault monitoring methods often rely on manual inspection and rule-based systems, which may not provide rapid or accurate fault identification. Additionally, electrical parameters, environmental conditions, and component health indicators generate large volumes of data that are difficult to analyze in real time.</a:t>
            </a:r>
            <a:br>
              <a:rPr lang="en-US" dirty="0"/>
            </a:br>
            <a:endParaRPr lang="en-US" dirty="0"/>
          </a:p>
          <a:p>
            <a:r>
              <a:rPr lang="en-US" b="1" dirty="0"/>
              <a:t>The Objective</a:t>
            </a:r>
          </a:p>
          <a:p>
            <a:r>
              <a:rPr lang="en-US" dirty="0"/>
              <a:t>Build an </a:t>
            </a:r>
            <a:r>
              <a:rPr lang="en-US" b="1" dirty="0"/>
              <a:t>AI-powered Power System Fault Detection and Classification System</a:t>
            </a:r>
            <a:r>
              <a:rPr lang="en-US" dirty="0"/>
              <a:t> that leverages machine learning and electrical measurement data to accurately identify and classify power system faults in real time. The solution should:</a:t>
            </a:r>
          </a:p>
          <a:p>
            <a:pPr marL="285750" indent="-285750">
              <a:buFont typeface="Arial" panose="020B0604020202020204" pitchFamily="34" charset="0"/>
              <a:buChar char="•"/>
            </a:pPr>
            <a:r>
              <a:rPr lang="en-US" b="1" dirty="0"/>
              <a:t>Fault Detection: </a:t>
            </a:r>
            <a:r>
              <a:rPr lang="en-US" dirty="0"/>
              <a:t>Detect abnormal operating conditions and distinguish them from normal system behavior. </a:t>
            </a:r>
          </a:p>
          <a:p>
            <a:pPr marL="285750" indent="-285750">
              <a:buFont typeface="Arial" panose="020B0604020202020204" pitchFamily="34" charset="0"/>
              <a:buChar char="•"/>
            </a:pPr>
            <a:r>
              <a:rPr lang="en-US" b="1" dirty="0"/>
              <a:t>Fault Classification: </a:t>
            </a:r>
            <a:r>
              <a:rPr lang="en-US" dirty="0"/>
              <a:t>Classify faults into categories such as: </a:t>
            </a:r>
            <a:r>
              <a:rPr lang="en-IN" dirty="0"/>
              <a:t>Transformer Failure, Overheating, Line Breakage </a:t>
            </a:r>
          </a:p>
          <a:p>
            <a:pPr marL="285750" indent="-285750">
              <a:buFont typeface="Arial" panose="020B0604020202020204" pitchFamily="34" charset="0"/>
              <a:buChar char="•"/>
            </a:pPr>
            <a:r>
              <a:rPr lang="en-US" b="1" dirty="0"/>
              <a:t>Electrical Data Analysis: </a:t>
            </a:r>
            <a:r>
              <a:rPr lang="en-US" dirty="0"/>
              <a:t>Analyze system parameters including: Voltage, Current, Power Load, Fault Duration, System Downtime </a:t>
            </a:r>
          </a:p>
          <a:p>
            <a:pPr marL="285750" indent="-285750">
              <a:buFont typeface="Arial" panose="020B0604020202020204" pitchFamily="34" charset="0"/>
              <a:buChar char="•"/>
            </a:pPr>
            <a:r>
              <a:rPr lang="en-US" b="1" dirty="0"/>
              <a:t>Environmental Awareness: </a:t>
            </a:r>
            <a:r>
              <a:rPr lang="en-US" dirty="0"/>
              <a:t>Incorporate external factors such as: Temperature, Wind Speed, Weather Conditions </a:t>
            </a:r>
          </a:p>
          <a:p>
            <a:pPr marL="285750" indent="-285750">
              <a:buFont typeface="Arial" panose="020B0604020202020204" pitchFamily="34" charset="0"/>
              <a:buChar char="•"/>
            </a:pPr>
            <a:r>
              <a:rPr lang="en-US" b="1" dirty="0"/>
              <a:t>Asset Health Monitoring: </a:t>
            </a:r>
            <a:r>
              <a:rPr lang="en-US" dirty="0"/>
              <a:t>Utilize: Maintenance Status, Component Health Indicators. To improve fault prediction accuracy and support preventive maintenance. </a:t>
            </a:r>
          </a:p>
          <a:p>
            <a:pPr marL="285750" indent="-285750">
              <a:buFont typeface="Arial" panose="020B0604020202020204" pitchFamily="34" charset="0"/>
              <a:buChar char="•"/>
            </a:pPr>
            <a:r>
              <a:rPr lang="en-US" b="1" dirty="0"/>
              <a:t>Intelligent Decision Support: </a:t>
            </a:r>
            <a:r>
              <a:rPr lang="en-US" dirty="0"/>
              <a:t>Provide real-time fault classification results, and maintenance recommendations to system operators.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801314"/>
          </a:xfrm>
          <a:prstGeom prst="rect">
            <a:avLst/>
          </a:prstGeom>
          <a:noFill/>
        </p:spPr>
        <p:txBody>
          <a:bodyPr wrap="square" rtlCol="0">
            <a:spAutoFit/>
          </a:bodyPr>
          <a:lstStyle/>
          <a:p>
            <a:pPr fontAlgn="base"/>
            <a:endParaRPr lang="en-IN" dirty="0"/>
          </a:p>
          <a:p>
            <a:pPr fontAlgn="base"/>
            <a:r>
              <a:rPr lang="en-IN" dirty="0"/>
              <a:t>I used IBM watsonx.ai with IBM Granite Models</a:t>
            </a:r>
            <a:endParaRPr lang="en-IN" dirty="0">
              <a:highlight>
                <a:srgbClr val="FFFF00"/>
              </a:highlight>
            </a:endParaRPr>
          </a:p>
          <a:p>
            <a:pPr fontAlgn="base"/>
            <a:endParaRPr lang="en-IN" dirty="0"/>
          </a:p>
          <a:p>
            <a:r>
              <a:rPr lang="en-IN" dirty="0"/>
              <a:t>Technology Used:</a:t>
            </a:r>
          </a:p>
          <a:p>
            <a:r>
              <a:rPr lang="en-IN" dirty="0"/>
              <a:t>Python, Pandas, Scikit-Learn, </a:t>
            </a:r>
            <a:r>
              <a:rPr lang="en-IN" dirty="0" err="1"/>
              <a:t>XGBoost</a:t>
            </a:r>
            <a:r>
              <a:rPr lang="en-IN" dirty="0"/>
              <a:t>, IBM Granite Model.</a:t>
            </a:r>
          </a:p>
          <a:p>
            <a:endParaRPr lang="en-IN" dirty="0"/>
          </a:p>
          <a:p>
            <a:endParaRPr lang="en-IN" sz="2400" b="1" dirty="0"/>
          </a:p>
          <a:p>
            <a:r>
              <a:rPr lang="en-IN" sz="2400" b="1" dirty="0" err="1"/>
              <a:t>XGBoost</a:t>
            </a:r>
            <a:r>
              <a:rPr lang="en-IN" sz="2400" b="1" dirty="0"/>
              <a:t> Classifier:</a:t>
            </a:r>
          </a:p>
          <a:p>
            <a:r>
              <a:rPr lang="en-US" sz="1600" dirty="0" err="1"/>
              <a:t>XGBoost</a:t>
            </a:r>
            <a:r>
              <a:rPr lang="en-US" sz="1600" dirty="0"/>
              <a:t> is used as the core classification algorithm in this project. It analyzes electrical parameters, environmental conditions, and equipment health data to learn fault patterns from historical records. I selected </a:t>
            </a:r>
            <a:r>
              <a:rPr lang="en-US" sz="1600" dirty="0" err="1"/>
              <a:t>XGBoost</a:t>
            </a:r>
            <a:r>
              <a:rPr lang="en-US" sz="1600" dirty="0"/>
              <a:t> because it provides high accuracy, handles complex relationships between features, offers feature importance analysis, and performs efficiently on structured datasets. The model classifies faults into categories such as Transformer Failure, Line Breakage, and Overheating, helping operators quickly identify fault conditions and improve power system reliability.</a:t>
            </a:r>
            <a:endParaRPr lang="en-IN" sz="1600" b="1" dirty="0"/>
          </a:p>
          <a:p>
            <a:endParaRPr lang="en-IN" sz="1600" b="1" dirty="0"/>
          </a:p>
          <a:p>
            <a:pPr fontAlgn="base"/>
            <a:endParaRPr lang="en-IN" sz="1600" dirty="0"/>
          </a:p>
          <a:p>
            <a:pPr fontAlgn="base"/>
            <a:endParaRPr lang="en-IN" sz="1600" dirty="0"/>
          </a:p>
          <a:p>
            <a:pPr fontAlgn="base"/>
            <a:endParaRPr lang="en-US" sz="1600"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05BAB5-0605-9C4C-9269-B45DCFCC4930}"/>
              </a:ext>
            </a:extLst>
          </p:cNvPr>
          <p:cNvSpPr>
            <a:spLocks noGrp="1"/>
          </p:cNvSpPr>
          <p:nvPr>
            <p:ph type="body" idx="1"/>
          </p:nvPr>
        </p:nvSpPr>
        <p:spPr>
          <a:xfrm>
            <a:off x="473631" y="215427"/>
            <a:ext cx="10515600" cy="793242"/>
          </a:xfrm>
        </p:spPr>
        <p:txBody>
          <a:bodyPr/>
          <a:lstStyle/>
          <a:p>
            <a:r>
              <a:rPr lang="en-IN" b="1" dirty="0">
                <a:solidFill>
                  <a:schemeClr val="tx1"/>
                </a:solidFill>
                <a:latin typeface="+mj-lt"/>
              </a:rPr>
              <a:t>Output</a:t>
            </a:r>
          </a:p>
        </p:txBody>
      </p:sp>
      <p:pic>
        <p:nvPicPr>
          <p:cNvPr id="5" name="Picture 4">
            <a:extLst>
              <a:ext uri="{FF2B5EF4-FFF2-40B4-BE49-F238E27FC236}">
                <a16:creationId xmlns:a16="http://schemas.microsoft.com/office/drawing/2014/main" id="{6C4C6D19-5EDF-3ADE-93D4-9DEEA319F253}"/>
              </a:ext>
            </a:extLst>
          </p:cNvPr>
          <p:cNvPicPr>
            <a:picLocks noChangeAspect="1"/>
          </p:cNvPicPr>
          <p:nvPr/>
        </p:nvPicPr>
        <p:blipFill>
          <a:blip r:embed="rId2"/>
          <a:stretch>
            <a:fillRect/>
          </a:stretch>
        </p:blipFill>
        <p:spPr>
          <a:xfrm>
            <a:off x="1585994" y="1121670"/>
            <a:ext cx="8203840" cy="4614660"/>
          </a:xfrm>
          <a:prstGeom prst="rect">
            <a:avLst/>
          </a:prstGeom>
        </p:spPr>
      </p:pic>
    </p:spTree>
    <p:extLst>
      <p:ext uri="{BB962C8B-B14F-4D97-AF65-F5344CB8AC3E}">
        <p14:creationId xmlns:p14="http://schemas.microsoft.com/office/powerpoint/2010/main" val="4073877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BABFEC-F565-D625-344E-184A16B94D91}"/>
              </a:ext>
            </a:extLst>
          </p:cNvPr>
          <p:cNvPicPr>
            <a:picLocks noChangeAspect="1"/>
          </p:cNvPicPr>
          <p:nvPr/>
        </p:nvPicPr>
        <p:blipFill>
          <a:blip r:embed="rId2"/>
          <a:stretch>
            <a:fillRect/>
          </a:stretch>
        </p:blipFill>
        <p:spPr>
          <a:xfrm>
            <a:off x="1291473" y="589240"/>
            <a:ext cx="8957442" cy="5038561"/>
          </a:xfrm>
          <a:prstGeom prst="rect">
            <a:avLst/>
          </a:prstGeom>
        </p:spPr>
      </p:pic>
    </p:spTree>
    <p:extLst>
      <p:ext uri="{BB962C8B-B14F-4D97-AF65-F5344CB8AC3E}">
        <p14:creationId xmlns:p14="http://schemas.microsoft.com/office/powerpoint/2010/main" val="3720508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0311BE-9F77-32A7-0739-C8329FF8A7F4}"/>
              </a:ext>
            </a:extLst>
          </p:cNvPr>
          <p:cNvSpPr>
            <a:spLocks noGrp="1"/>
          </p:cNvSpPr>
          <p:nvPr>
            <p:ph type="body" idx="1"/>
          </p:nvPr>
        </p:nvSpPr>
        <p:spPr>
          <a:xfrm>
            <a:off x="209681" y="177719"/>
            <a:ext cx="10515600" cy="812095"/>
          </a:xfrm>
        </p:spPr>
        <p:txBody>
          <a:bodyPr/>
          <a:lstStyle/>
          <a:p>
            <a:r>
              <a:rPr lang="en-IN" b="1" dirty="0">
                <a:solidFill>
                  <a:schemeClr val="tx1"/>
                </a:solidFill>
                <a:latin typeface="+mj-lt"/>
              </a:rPr>
              <a:t>Confusion Matrix</a:t>
            </a:r>
          </a:p>
        </p:txBody>
      </p:sp>
      <p:pic>
        <p:nvPicPr>
          <p:cNvPr id="5" name="Picture 4">
            <a:extLst>
              <a:ext uri="{FF2B5EF4-FFF2-40B4-BE49-F238E27FC236}">
                <a16:creationId xmlns:a16="http://schemas.microsoft.com/office/drawing/2014/main" id="{23F71F93-8F88-CBF2-06EB-17B3E5CAD3FD}"/>
              </a:ext>
            </a:extLst>
          </p:cNvPr>
          <p:cNvPicPr>
            <a:picLocks noChangeAspect="1"/>
          </p:cNvPicPr>
          <p:nvPr/>
        </p:nvPicPr>
        <p:blipFill>
          <a:blip r:embed="rId2"/>
          <a:stretch>
            <a:fillRect/>
          </a:stretch>
        </p:blipFill>
        <p:spPr>
          <a:xfrm>
            <a:off x="6840419" y="3740085"/>
            <a:ext cx="5021706" cy="2717276"/>
          </a:xfrm>
          <a:prstGeom prst="rect">
            <a:avLst/>
          </a:prstGeom>
        </p:spPr>
      </p:pic>
      <p:pic>
        <p:nvPicPr>
          <p:cNvPr id="7" name="Picture 6">
            <a:extLst>
              <a:ext uri="{FF2B5EF4-FFF2-40B4-BE49-F238E27FC236}">
                <a16:creationId xmlns:a16="http://schemas.microsoft.com/office/drawing/2014/main" id="{0F86DB23-8579-348A-D37A-7648E544F87C}"/>
              </a:ext>
            </a:extLst>
          </p:cNvPr>
          <p:cNvPicPr>
            <a:picLocks noChangeAspect="1"/>
          </p:cNvPicPr>
          <p:nvPr/>
        </p:nvPicPr>
        <p:blipFill>
          <a:blip r:embed="rId3"/>
          <a:stretch>
            <a:fillRect/>
          </a:stretch>
        </p:blipFill>
        <p:spPr>
          <a:xfrm>
            <a:off x="329875" y="886120"/>
            <a:ext cx="6452125" cy="3629320"/>
          </a:xfrm>
          <a:prstGeom prst="rect">
            <a:avLst/>
          </a:prstGeom>
        </p:spPr>
      </p:pic>
    </p:spTree>
    <p:extLst>
      <p:ext uri="{BB962C8B-B14F-4D97-AF65-F5344CB8AC3E}">
        <p14:creationId xmlns:p14="http://schemas.microsoft.com/office/powerpoint/2010/main" val="3290426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640551"/>
            <a:ext cx="10607040" cy="6340197"/>
          </a:xfrm>
          <a:prstGeom prst="rect">
            <a:avLst/>
          </a:prstGeom>
          <a:noFill/>
        </p:spPr>
        <p:txBody>
          <a:bodyPr wrap="square" rtlCol="0">
            <a:spAutoFit/>
          </a:bodyPr>
          <a:lstStyle/>
          <a:p>
            <a:pPr fontAlgn="base"/>
            <a:endParaRPr lang="en-US" b="1" dirty="0"/>
          </a:p>
          <a:p>
            <a:r>
              <a:rPr lang="en-US" b="1" dirty="0"/>
              <a:t>Proposed Solution: Power System Fault Detection and Classification</a:t>
            </a:r>
          </a:p>
          <a:p>
            <a:r>
              <a:rPr lang="en-US" dirty="0"/>
              <a:t>The proposed solution is a </a:t>
            </a:r>
            <a:r>
              <a:rPr lang="en-US" b="1" dirty="0"/>
              <a:t>Machine Learning-based Fault Detection and Classification System</a:t>
            </a:r>
            <a:r>
              <a:rPr lang="en-US" dirty="0"/>
              <a:t> designed to identify and classify power system faults using electrical measurements, environmental conditions, and component health indicators.</a:t>
            </a:r>
          </a:p>
          <a:p>
            <a:r>
              <a:rPr lang="en-US" dirty="0"/>
              <a:t>The system utilizes historical fault data containing voltage, current, power load, temperature, weather conditions, maintenance status, component health, fault duration, and downtime information. The collected data undergoes preprocessing, feature engineering, and encoding before being used to train machine learning models.</a:t>
            </a:r>
          </a:p>
          <a:p>
            <a:endParaRPr lang="en-US" dirty="0"/>
          </a:p>
          <a:p>
            <a:r>
              <a:rPr lang="en-US" dirty="0"/>
              <a:t>The solution employs the </a:t>
            </a:r>
            <a:r>
              <a:rPr lang="en-US" b="1" dirty="0" err="1"/>
              <a:t>XGBoost</a:t>
            </a:r>
            <a:r>
              <a:rPr lang="en-US" b="1" dirty="0"/>
              <a:t> Classification Algorithm</a:t>
            </a:r>
            <a:r>
              <a:rPr lang="en-US" dirty="0"/>
              <a:t> to detect patterns associated with different fault categories and accurately classify faults into: </a:t>
            </a:r>
            <a:r>
              <a:rPr lang="en-US" b="1" dirty="0"/>
              <a:t>Transformer Failure, Line Breakage, Overheating</a:t>
            </a:r>
          </a:p>
          <a:p>
            <a:pPr fontAlgn="base"/>
            <a:endParaRPr lang="en-US" dirty="0"/>
          </a:p>
          <a:p>
            <a:r>
              <a:rPr lang="en-US" dirty="0"/>
              <a:t>The workflow consists of the following stages:</a:t>
            </a:r>
          </a:p>
          <a:p>
            <a:pPr marL="285750" indent="-285750">
              <a:buFont typeface="Arial" panose="020B0604020202020204" pitchFamily="34" charset="0"/>
              <a:buChar char="•"/>
            </a:pPr>
            <a:r>
              <a:rPr lang="en-US" b="1" dirty="0"/>
              <a:t>Data Preprocessing</a:t>
            </a:r>
          </a:p>
          <a:p>
            <a:r>
              <a:rPr lang="en-US" dirty="0"/>
              <a:t>        1. Missing value handling </a:t>
            </a:r>
          </a:p>
          <a:p>
            <a:r>
              <a:rPr lang="en-US" dirty="0"/>
              <a:t>        2. Categorical feature encoding </a:t>
            </a:r>
          </a:p>
          <a:p>
            <a:r>
              <a:rPr lang="en-US" dirty="0"/>
              <a:t>        3. Feature scaling and normalization </a:t>
            </a:r>
          </a:p>
          <a:p>
            <a:pPr marL="285750" indent="-285750">
              <a:buFont typeface="Arial" panose="020B0604020202020204" pitchFamily="34" charset="0"/>
              <a:buChar char="•"/>
            </a:pPr>
            <a:r>
              <a:rPr lang="en-US" b="1" dirty="0"/>
              <a:t>Feature Engineering</a:t>
            </a:r>
          </a:p>
          <a:p>
            <a:r>
              <a:rPr lang="en-US" b="1" dirty="0"/>
              <a:t>       </a:t>
            </a:r>
            <a:r>
              <a:rPr lang="en-US" dirty="0"/>
              <a:t>1. Voltage-Current Ratio </a:t>
            </a:r>
          </a:p>
          <a:p>
            <a:r>
              <a:rPr lang="en-US" dirty="0"/>
              <a:t>       2. Load-Current Ratio </a:t>
            </a:r>
          </a:p>
          <a:p>
            <a:r>
              <a:rPr lang="en-US" dirty="0"/>
              <a:t>       3. Temperature-Load Relationship </a:t>
            </a:r>
          </a:p>
          <a:p>
            <a:r>
              <a:rPr lang="en-US" dirty="0"/>
              <a:t>       4. Downtime Severity Metrics </a:t>
            </a:r>
          </a:p>
          <a:p>
            <a:pPr marL="285750" indent="-285750">
              <a:buFont typeface="Arial" panose="020B0604020202020204" pitchFamily="34" charset="0"/>
              <a:buChar char="•"/>
            </a:pPr>
            <a:r>
              <a:rPr lang="en-US" b="1" dirty="0"/>
              <a:t>Fault Classification Model</a:t>
            </a:r>
          </a:p>
          <a:p>
            <a:r>
              <a:rPr lang="en-US" b="1" dirty="0"/>
              <a:t>      </a:t>
            </a:r>
            <a:r>
              <a:rPr lang="en-US" dirty="0"/>
              <a:t> 1. </a:t>
            </a:r>
            <a:r>
              <a:rPr lang="en-US" dirty="0" err="1"/>
              <a:t>XGBoost</a:t>
            </a:r>
            <a:r>
              <a:rPr lang="en-US" dirty="0"/>
              <a:t> Classifier </a:t>
            </a:r>
          </a:p>
          <a:p>
            <a:r>
              <a:rPr lang="en-US" dirty="0"/>
              <a:t>       2. Feature Importance Analysis </a:t>
            </a:r>
          </a:p>
          <a:p>
            <a:pPr marL="285750" indent="-285750">
              <a:buFont typeface="Arial" panose="020B0604020202020204" pitchFamily="34" charset="0"/>
              <a:buChar char="•"/>
            </a:pPr>
            <a:r>
              <a:rPr lang="en-US" b="1" dirty="0"/>
              <a:t>Prediction &amp; Monitoring</a:t>
            </a:r>
          </a:p>
          <a:p>
            <a:r>
              <a:rPr lang="en-US" dirty="0"/>
              <a:t>       1. Real-time fault prediction </a:t>
            </a:r>
          </a:p>
          <a:p>
            <a:r>
              <a:rPr lang="en-US" dirty="0"/>
              <a:t>       2. Automated fault classification </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317589"/>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6ECEFFE8-EE05-B81B-CF84-EAFB90EF2DF8}"/>
              </a:ext>
            </a:extLst>
          </p:cNvPr>
          <p:cNvPicPr>
            <a:picLocks noChangeAspect="1"/>
          </p:cNvPicPr>
          <p:nvPr/>
        </p:nvPicPr>
        <p:blipFill>
          <a:blip r:embed="rId3"/>
          <a:stretch>
            <a:fillRect/>
          </a:stretch>
        </p:blipFill>
        <p:spPr>
          <a:xfrm>
            <a:off x="1093902" y="771747"/>
            <a:ext cx="10218264" cy="58380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103313"/>
            <a:ext cx="10516071" cy="5478423"/>
          </a:xfrm>
          <a:prstGeom prst="rect">
            <a:avLst/>
          </a:prstGeom>
          <a:noFill/>
        </p:spPr>
        <p:txBody>
          <a:bodyPr wrap="square" rtlCol="0">
            <a:spAutoFit/>
          </a:bodyPr>
          <a:lstStyle/>
          <a:p>
            <a:r>
              <a:rPr lang="en-US" sz="1600" dirty="0"/>
              <a:t>The proposed </a:t>
            </a:r>
            <a:r>
              <a:rPr lang="en-US" sz="1600" b="1" dirty="0"/>
              <a:t>AI-Powered Power System Fault Detection and Classification System</a:t>
            </a:r>
            <a:r>
              <a:rPr lang="en-US" sz="1600" dirty="0"/>
              <a:t> introduces an intelligent and data-driven approach to fault monitoring by combining machine learning with power system analytics.</a:t>
            </a:r>
          </a:p>
          <a:p>
            <a:pPr marL="342900" indent="-342900">
              <a:buFont typeface="+mj-lt"/>
              <a:buAutoNum type="arabicPeriod"/>
            </a:pPr>
            <a:r>
              <a:rPr lang="en-US" sz="1600" b="1" dirty="0"/>
              <a:t>Intelligent Fault Classification - </a:t>
            </a:r>
            <a:r>
              <a:rPr lang="en-US" sz="1600" dirty="0"/>
              <a:t>Uses machine learning algorithms to automatically identify and classify different power system faults with minimal human intervention. </a:t>
            </a:r>
          </a:p>
          <a:p>
            <a:pPr marL="342900" indent="-342900">
              <a:buFont typeface="+mj-lt"/>
              <a:buAutoNum type="arabicPeriod"/>
            </a:pPr>
            <a:r>
              <a:rPr lang="en-US" sz="1600" b="1" dirty="0"/>
              <a:t>Multi-Parameter Analysis - </a:t>
            </a:r>
            <a:r>
              <a:rPr lang="en-US" sz="1600" dirty="0"/>
              <a:t>Analyzes electrical parameters, environmental conditions, and equipment health data simultaneously for improved prediction accuracy. </a:t>
            </a:r>
          </a:p>
          <a:p>
            <a:pPr marL="342900" indent="-342900">
              <a:buFont typeface="+mj-lt"/>
              <a:buAutoNum type="arabicPeriod"/>
            </a:pPr>
            <a:r>
              <a:rPr lang="en-US" sz="1600" b="1" dirty="0"/>
              <a:t>Real-Time Fault Identification - </a:t>
            </a:r>
            <a:r>
              <a:rPr lang="en-US" sz="1600" dirty="0"/>
              <a:t>Enables rapid fault detection and classification, helping operators respond quickly and reduce outage duration. </a:t>
            </a:r>
          </a:p>
          <a:p>
            <a:pPr marL="342900" indent="-342900">
              <a:buFont typeface="+mj-lt"/>
              <a:buAutoNum type="arabicPeriod"/>
            </a:pPr>
            <a:r>
              <a:rPr lang="en-US" sz="1600" b="1" dirty="0"/>
              <a:t>Feature Engineering-Based Insights - </a:t>
            </a:r>
            <a:r>
              <a:rPr lang="en-US" sz="1600" dirty="0"/>
              <a:t>Utilizes derived features such as voltage-current ratio, load-current relationship, and downtime severity metrics to enhance model performance. </a:t>
            </a:r>
          </a:p>
          <a:p>
            <a:pPr marL="342900" indent="-342900">
              <a:buFont typeface="+mj-lt"/>
              <a:buAutoNum type="arabicPeriod"/>
            </a:pPr>
            <a:r>
              <a:rPr lang="en-US" sz="1600" b="1" dirty="0"/>
              <a:t>Predictive Maintenance Support - </a:t>
            </a:r>
            <a:r>
              <a:rPr lang="en-US" sz="1600" dirty="0"/>
              <a:t>Incorporates maintenance status and component health indicators to support proactive maintenance and reduce unexpected failures. </a:t>
            </a:r>
          </a:p>
          <a:p>
            <a:pPr marL="342900" indent="-342900">
              <a:buFont typeface="+mj-lt"/>
              <a:buAutoNum type="arabicPeriod"/>
            </a:pPr>
            <a:r>
              <a:rPr lang="en-US" sz="1600" b="1" dirty="0"/>
              <a:t>Explainable AI - </a:t>
            </a:r>
            <a:r>
              <a:rPr lang="en-US" sz="1600" dirty="0"/>
              <a:t>Provides feature importance analysis to help operators understand the key factors influencing fault predictions. </a:t>
            </a:r>
          </a:p>
          <a:p>
            <a:pPr marL="342900" indent="-342900">
              <a:buFont typeface="+mj-lt"/>
              <a:buAutoNum type="arabicPeriod"/>
            </a:pPr>
            <a:r>
              <a:rPr lang="en-US" sz="1600" b="1" dirty="0"/>
              <a:t>Scalable and Practical Solution - </a:t>
            </a:r>
            <a:r>
              <a:rPr lang="en-US" sz="1600" dirty="0"/>
              <a:t>Can be integrated with smart grids, SCADA systems, and IoT-based monitoring infrastructure for large-scale deployment. </a:t>
            </a:r>
          </a:p>
          <a:p>
            <a:r>
              <a:rPr lang="en-US" sz="1600" dirty="0"/>
              <a:t> </a:t>
            </a:r>
          </a:p>
          <a:p>
            <a:r>
              <a:rPr lang="en-US" sz="1600" b="1" dirty="0"/>
              <a:t>Key Uniqueness</a:t>
            </a:r>
          </a:p>
          <a:p>
            <a:r>
              <a:rPr lang="en-US" sz="1600" dirty="0"/>
              <a:t>Unlike traditional rule-based fault monitoring systems, this solution leverages </a:t>
            </a:r>
            <a:r>
              <a:rPr lang="en-US" sz="1600" b="1" dirty="0"/>
              <a:t>Machine Learning and intelligent analytics</a:t>
            </a:r>
            <a:r>
              <a:rPr lang="en-US" sz="1600" dirty="0"/>
              <a:t> to provide </a:t>
            </a:r>
            <a:r>
              <a:rPr lang="en-US" sz="1600" b="1" dirty="0"/>
              <a:t>faster, more accurate, and scalable fault classification</a:t>
            </a:r>
            <a:r>
              <a:rPr lang="en-US" sz="1600" dirty="0"/>
              <a:t>, enabling utilities to improve power system reliability and minimize downtime.</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10385672"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Git Hub Link: </a:t>
            </a:r>
            <a:r>
              <a:rPr lang="en-US" sz="1850" dirty="0">
                <a:solidFill>
                  <a:srgbClr val="2B3541"/>
                </a:solidFill>
                <a:latin typeface="Times New Roman"/>
                <a:ea typeface="Times New Roman"/>
                <a:cs typeface="Times New Roman"/>
                <a:sym typeface="Times New Roman"/>
                <a:hlinkClick r:id="rId3"/>
              </a:rPr>
              <a:t>evudayasree03/Power-System-Fault-Detection-and-Classification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44718" y="37200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44718" y="1345224"/>
            <a:ext cx="11010507" cy="4277001"/>
          </a:xfrm>
          <a:prstGeom prst="rect">
            <a:avLst/>
          </a:prstGeom>
          <a:noFill/>
          <a:ln>
            <a:noFill/>
          </a:ln>
        </p:spPr>
        <p:txBody>
          <a:bodyPr spcFirstLastPara="1" wrap="square" lIns="0" tIns="0" rIns="0" bIns="0" anchor="t" anchorCtr="0">
            <a:noAutofit/>
          </a:bodyPr>
          <a:lstStyle/>
          <a:p>
            <a:r>
              <a:rPr lang="en-US" sz="1600" b="1" dirty="0"/>
              <a:t>1. Integration with Smart Grid and IoT Sensors</a:t>
            </a:r>
          </a:p>
          <a:p>
            <a:r>
              <a:rPr lang="en-US" sz="1600" dirty="0"/>
              <a:t>The system can be integrated with real-time IoT devices and smart grid infrastructure to continuously monitor electrical parameters and detect faults instantly. Future versions can predict potential equipment failures before they occur by analyzing historical fault patterns, maintenance records, and component health data.</a:t>
            </a:r>
          </a:p>
          <a:p>
            <a:endParaRPr lang="en-US" sz="1600" dirty="0"/>
          </a:p>
          <a:p>
            <a:r>
              <a:rPr lang="en-US" sz="1600" b="1" dirty="0"/>
              <a:t>2. Advanced Deep Learning Models</a:t>
            </a:r>
          </a:p>
          <a:p>
            <a:r>
              <a:rPr lang="en-US" sz="1600" dirty="0"/>
              <a:t>Deep learning techniques such as LSTM, CNN, and Transformer-based models can be used to improve fault detection accuracy and handle complex power system data.</a:t>
            </a:r>
          </a:p>
          <a:p>
            <a:endParaRPr lang="en-US" sz="1600" dirty="0"/>
          </a:p>
          <a:p>
            <a:r>
              <a:rPr lang="en-US" sz="1600" b="1" dirty="0"/>
              <a:t>3. SCADA and Utility System Integration</a:t>
            </a:r>
          </a:p>
          <a:p>
            <a:r>
              <a:rPr lang="en-US" sz="1600" dirty="0"/>
              <a:t>The solution can be integrated with SCADA and utility management systems to enable automated fault monitoring, reporting, and decision support.</a:t>
            </a:r>
          </a:p>
          <a:p>
            <a:endParaRPr lang="en-US" sz="1600" dirty="0"/>
          </a:p>
          <a:p>
            <a:r>
              <a:rPr lang="en-US" sz="1600" b="1" dirty="0"/>
              <a:t>4. Fault Localization and Root Cause Analysis</a:t>
            </a:r>
          </a:p>
          <a:p>
            <a:r>
              <a:rPr lang="en-US" sz="1600" dirty="0"/>
              <a:t>Future enhancements can identify the exact fault location and determine the root cause of failures, helping utilities reduce restoration time and maintenance costs.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1381</TotalTime>
  <Words>1028</Words>
  <Application>Microsoft Office PowerPoint</Application>
  <PresentationFormat>Widescreen</PresentationFormat>
  <Paragraphs>96</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Srikanth Pydikalva</cp:lastModifiedBy>
  <cp:revision>27</cp:revision>
  <dcterms:created xsi:type="dcterms:W3CDTF">2025-07-08T05:06:56Z</dcterms:created>
  <dcterms:modified xsi:type="dcterms:W3CDTF">2026-06-06T13:55:40Z</dcterms:modified>
</cp:coreProperties>
</file>